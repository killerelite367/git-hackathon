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280160" cy="38100"/>
          </a:xfrm>
          <a:prstGeom prst="rect">
            <a:avLst/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>
                <a:solidFill>
                  <a:srgbClr val="A98BFF"/>
                </a:solidFill>
                <a:latin typeface="Consolas"/>
              </a:rPr>
              <a:t>AI STUDY PLANNER FOR POLYTECHNIC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7899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Montserrat"/>
              </a:rPr>
              <a:t>Paste your syllabus.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6600" b="1">
                <a:solidFill>
                  <a:srgbClr val="A98BFF"/>
                </a:solidFill>
                <a:latin typeface="Montserrat"/>
              </a:rPr>
              <a:t>Get your semester planned.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63440"/>
            <a:ext cx="7863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9A9AB0"/>
                </a:solidFill>
                <a:latin typeface="Inter"/>
              </a:rPr>
              <a:t>One paste. Every deadline, weightage and study block — laid out across your whole semester.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StudyQuest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868680"/>
            <a:ext cx="1280160" cy="3810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>
                <a:solidFill>
                  <a:srgbClr val="FF5FA2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4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Montserrat"/>
              </a:rPr>
              <a:t>Most planners end up empty.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5400" b="1">
                <a:solidFill>
                  <a:srgbClr val="6A6A80"/>
                </a:solidFill>
                <a:latin typeface="Montserrat"/>
              </a:rPr>
              <a:t>Because you have to fill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60520"/>
            <a:ext cx="3398520" cy="1828800"/>
          </a:xfrm>
          <a:prstGeom prst="roundRect">
            <a:avLst>
              <a:gd name="adj" fmla="val 6000"/>
            </a:avLst>
          </a:prstGeom>
          <a:solidFill>
            <a:srgbClr val="161622"/>
          </a:solidFill>
          <a:ln w="1587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8408" y="4434840"/>
            <a:ext cx="457200" cy="3175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4617720"/>
            <a:ext cx="2813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Continuous assessments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4983480"/>
            <a:ext cx="28133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9A9AB0"/>
                </a:solidFill>
                <a:latin typeface="Inter"/>
              </a:rPr>
              <a:t>Multiple CAs, projects and reflections running at once, each worth a different slice of the grade.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5216" y="4160520"/>
            <a:ext cx="3398520" cy="1828800"/>
          </a:xfrm>
          <a:prstGeom prst="roundRect">
            <a:avLst>
              <a:gd name="adj" fmla="val 6000"/>
            </a:avLst>
          </a:prstGeom>
          <a:solidFill>
            <a:srgbClr val="161622"/>
          </a:solidFill>
          <a:ln w="1587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87824" y="4434840"/>
            <a:ext cx="457200" cy="3175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7824" y="4617720"/>
            <a:ext cx="2813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Manual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7824" y="4983480"/>
            <a:ext cx="28133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9A9AB0"/>
                </a:solidFill>
                <a:latin typeface="Inter"/>
              </a:rPr>
              <a:t>Every existing tool asks you to type in each deadline yourself — so most students never finish setting it 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4632" y="4160520"/>
            <a:ext cx="3398520" cy="1828800"/>
          </a:xfrm>
          <a:prstGeom prst="roundRect">
            <a:avLst>
              <a:gd name="adj" fmla="val 6000"/>
            </a:avLst>
          </a:prstGeom>
          <a:solidFill>
            <a:srgbClr val="161622"/>
          </a:solidFill>
          <a:ln w="15875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7240" y="4434840"/>
            <a:ext cx="457200" cy="31750"/>
          </a:xfrm>
          <a:prstGeom prst="rect">
            <a:avLst/>
          </a:prstGeom>
          <a:solidFill>
            <a:srgbClr val="5F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7240" y="4617720"/>
            <a:ext cx="28133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ontserrat"/>
              </a:rPr>
              <a:t>No sense of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7240" y="4983480"/>
            <a:ext cx="28133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9A9AB0"/>
                </a:solidFill>
                <a:latin typeface="Inter"/>
              </a:rPr>
              <a:t>A calendar shows when things are due. It never warns you that three land in the same week.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910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StudyQuest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868680"/>
            <a:ext cx="1280160" cy="38100"/>
          </a:xfrm>
          <a:prstGeom prst="rect">
            <a:avLst/>
          </a:prstGeom>
          <a:solidFill>
            <a:srgbClr val="5FD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>
                <a:solidFill>
                  <a:srgbClr val="5FD0FF"/>
                </a:solidFill>
                <a:latin typeface="Consola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6400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Montserrat"/>
              </a:rPr>
              <a:t>Three steps.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5000" b="1">
                <a:solidFill>
                  <a:srgbClr val="5FD0FF"/>
                </a:solidFill>
                <a:latin typeface="Montserrat"/>
              </a:rPr>
              <a:t>That's the whole setup.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>
                <a:solidFill>
                  <a:srgbClr val="5FD0FF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26440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ontserrat"/>
              </a:rPr>
              <a:t>Scan or paste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300984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9A9AB0"/>
                </a:solidFill>
                <a:latin typeface="Inter"/>
              </a:rPr>
              <a:t>Photograph a module guide or paste the text. The AI pulls out every assessment, weightage and due 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2976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>
                <a:solidFill>
                  <a:srgbClr val="A98BFF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431596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ontserrat"/>
              </a:rPr>
              <a:t>It plans the semester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352544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9A9AB0"/>
                </a:solidFill>
                <a:latin typeface="Inter"/>
              </a:rPr>
              <a:t>Work is spread backward from each deadline into daily blocks, ranked by urgency x weight.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34924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000" b="1">
                <a:solidFill>
                  <a:srgbClr val="7CFF6B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36752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ontserrat"/>
              </a:rPr>
              <a:t>Study and get paid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404104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9A9AB0"/>
                </a:solidFill>
                <a:latin typeface="Inter"/>
              </a:rPr>
              <a:t>Real focus sessions become XP, streaks and Focus Crystals — the only way to summon Spirits.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37360"/>
            <a:ext cx="3867912" cy="429768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 w="19050">
            <a:solidFill>
              <a:srgbClr val="A98B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611880"/>
            <a:ext cx="3867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6A6A80"/>
                </a:solidFill>
                <a:latin typeface="Consolas"/>
              </a:rPr>
              <a:t>[ drop app screenshot here — planner view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StudyQuest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868680"/>
            <a:ext cx="1280160" cy="381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>
                <a:solidFill>
                  <a:srgbClr val="FFE14D"/>
                </a:solidFill>
                <a:latin typeface="Consolas"/>
              </a:rPr>
              <a:t>WHY IT'S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7665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4000"/>
              </a:lnSpc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Montserrat"/>
              </a:rPr>
              <a:t>The only currency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5200" b="1">
                <a:solidFill>
                  <a:srgbClr val="FFE14D"/>
                </a:solidFill>
                <a:latin typeface="Montserrat"/>
              </a:rPr>
              <a:t>is studying.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6492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700" b="0">
                <a:solidFill>
                  <a:srgbClr val="9A9AB0"/>
                </a:solidFill>
                <a:latin typeface="Inter"/>
              </a:rPr>
              <a:t>Focus Crystals can't be bought — not with money, not ever. You earn them by finishing real coursework, then spend them summoning Study Spirits. The reward loop literally pays you to study.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5349240"/>
            <a:ext cx="2226015" cy="420624"/>
          </a:xfrm>
          <a:prstGeom prst="roundRect">
            <a:avLst>
              <a:gd name="adj" fmla="val 50000"/>
            </a:avLst>
          </a:prstGeom>
          <a:solidFill>
            <a:srgbClr val="161622"/>
          </a:solidFill>
          <a:ln w="15875">
            <a:solidFill>
              <a:srgbClr val="7CF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431536"/>
            <a:ext cx="22260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7CFF6B"/>
                </a:solidFill>
                <a:latin typeface="Consolas"/>
              </a:rPr>
              <a:t>No real money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40415" y="5349240"/>
            <a:ext cx="2226015" cy="420624"/>
          </a:xfrm>
          <a:prstGeom prst="roundRect">
            <a:avLst>
              <a:gd name="adj" fmla="val 50000"/>
            </a:avLst>
          </a:prstGeom>
          <a:solidFill>
            <a:srgbClr val="161622"/>
          </a:solidFill>
          <a:ln w="15875">
            <a:solidFill>
              <a:srgbClr val="5FD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40415" y="5431536"/>
            <a:ext cx="22260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5FD0FF"/>
                </a:solidFill>
                <a:latin typeface="Consolas"/>
              </a:rPr>
              <a:t>Works offline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67598" y="5349240"/>
            <a:ext cx="2089952" cy="420624"/>
          </a:xfrm>
          <a:prstGeom prst="roundRect">
            <a:avLst>
              <a:gd name="adj" fmla="val 50000"/>
            </a:avLst>
          </a:prstGeom>
          <a:solidFill>
            <a:srgbClr val="161622"/>
          </a:solidFill>
          <a:ln w="15875">
            <a:solidFill>
              <a:srgbClr val="A9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7598" y="5431536"/>
            <a:ext cx="20899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A98BFF"/>
                </a:solidFill>
                <a:latin typeface="Consolas"/>
              </a:rPr>
              <a:t>Free forever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737360"/>
            <a:ext cx="3867912" cy="4297680"/>
          </a:xfrm>
          <a:prstGeom prst="roundRect">
            <a:avLst>
              <a:gd name="adj" fmla="val 5000"/>
            </a:avLst>
          </a:prstGeom>
          <a:solidFill>
            <a:srgbClr val="161622"/>
          </a:solidFill>
          <a:ln w="19050">
            <a:solidFill>
              <a:srgbClr val="A98B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611880"/>
            <a:ext cx="386791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6A6A80"/>
                </a:solidFill>
                <a:latin typeface="Consolas"/>
              </a:rPr>
              <a:t>[ drop summon animation screenshot / GIF here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StudyQuest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0" y="-1463040"/>
            <a:ext cx="5943600" cy="5943600"/>
          </a:xfrm>
          <a:prstGeom prst="ellipse">
            <a:avLst/>
          </a:prstGeom>
          <a:solidFill>
            <a:srgbClr val="1A1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Montserrat"/>
              </a:rPr>
              <a:t>Your semester is already</a:t>
            </a:r>
          </a:p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5600" b="1">
                <a:solidFill>
                  <a:srgbClr val="A98BFF"/>
                </a:solidFill>
                <a:latin typeface="Montserrat"/>
              </a:rPr>
              <a:t>planned. Go look.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900" b="0">
                <a:solidFill>
                  <a:srgbClr val="9A9AB0"/>
                </a:solidFill>
                <a:latin typeface="Inter"/>
              </a:rPr>
              <a:t>Free, works offline, and nothing to sign up for.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4892040"/>
            <a:ext cx="2862072" cy="658368"/>
          </a:xfrm>
          <a:prstGeom prst="roundRect">
            <a:avLst>
              <a:gd name="adj" fmla="val 35000"/>
            </a:avLst>
          </a:prstGeom>
          <a:solidFill>
            <a:srgbClr val="A9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5047488"/>
            <a:ext cx="2862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>
                <a:solidFill>
                  <a:srgbClr val="0B0B12"/>
                </a:solidFill>
                <a:latin typeface="Montserrat"/>
              </a:rPr>
              <a:t>Open StudyQuest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6A6A80"/>
                </a:solidFill>
                <a:latin typeface="Consolas"/>
              </a:rPr>
              <a:t>React + TypeScript  ·  Supabase  ·  Republic Polytechnic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910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StudyQuest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2910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1000" b="0">
                <a:solidFill>
                  <a:srgbClr val="6A6A80"/>
                </a:solidFill>
                <a:latin typeface="Consolas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